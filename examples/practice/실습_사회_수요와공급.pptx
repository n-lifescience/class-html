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가격은 한 사람이 정하는 것이 아니라 사려는 사람과 팔려는 사람이 만나서 정해진다는 데로 이끈다.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초과 수요일 때는 사려는 사람끼리 경쟁해서, 초과 공급일 때는 팔려는 사람끼리 경쟁해서 가격이 움직인다.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가격이 바뀌어 수요량·공급량이 움직이는 것과, 가격 말고 다른 요인이 바뀌어 수요·공급 자체가 바뀌는 것을 구분한다.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정답 ②. 2,500원일 때 수요량 400인분, 공급량 200인분이므로 200인분의 초과 수요가 나타난다.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수요: ㄱ, ㄹ, ㅂ(어묵은 보완재) / 공급: ㄴ, ㄷ, 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D4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828800"/>
            <a:ext cx="164592" cy="2377440"/>
          </a:xfrm>
          <a:prstGeom prst="rect">
            <a:avLst/>
          </a:prstGeom>
          <a:solidFill>
            <a:srgbClr val="F59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17373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중학교 사회 · 시장 경제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2377440"/>
            <a:ext cx="10058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4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떡볶이 값은 누가 정할까?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35661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8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수요와 공급, 시장 가격의 결정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D4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932688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800"/>
              </a:spcAft>
            </a:pPr>
            <a:r>
              <a:rPr sz="3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학습 목표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58400" y="256032"/>
            <a:ext cx="1737360" cy="457200"/>
          </a:xfrm>
          <a:prstGeom prst="roundRect">
            <a:avLst/>
          </a:prstGeom>
          <a:solidFill>
            <a:srgbClr val="F59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학습 목표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10515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80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1. 수요 법칙과 공급 법칙을 설명할 수 있다.</a:t>
            </a:r>
          </a:p>
          <a:p>
            <a:pPr>
              <a:spcAft>
                <a:spcPts val="800"/>
              </a:spcAft>
            </a:pPr>
            <a:r>
              <a:rPr sz="280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2. 시장에서 균형 가격이 정해지는 과정을 설명할 수 있다.</a:t>
            </a:r>
          </a:p>
          <a:p>
            <a:pPr>
              <a:spcAft>
                <a:spcPts val="800"/>
              </a:spcAft>
            </a:pPr>
            <a:r>
              <a:rPr sz="280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3. 수요와 공급을 변하게 하는 요인을 구분할 수 있다.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D4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932688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800"/>
              </a:spcAft>
            </a:pPr>
            <a:r>
              <a:rPr sz="3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수박 값은 왜 계절마다 다를까?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58400" y="256032"/>
            <a:ext cx="1737360" cy="457200"/>
          </a:xfrm>
          <a:prstGeom prst="roundRect">
            <a:avLst/>
          </a:prstGeom>
          <a:solidFill>
            <a:srgbClr val="F59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생각 열기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같은 크기의 수박인데 여름에는 한 통에 15,000원, 겨울에는 35,000원이다.</a:t>
            </a:r>
          </a:p>
          <a:p>
            <a:pPr>
              <a:spcAft>
                <a:spcPts val="800"/>
              </a:spcAft>
            </a:pPr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수박 값을 정하는 사람은 누구일까?</a:t>
            </a:r>
          </a:p>
        </p:txBody>
      </p:sp>
      <p:pic>
        <p:nvPicPr>
          <p:cNvPr id="6" name="Picture 5" descr="여름 해와 겨울 눈송이 사이에 놓인 수박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463040"/>
            <a:ext cx="5486400" cy="309233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D4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932688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800"/>
              </a:spcAft>
            </a:pPr>
            <a:r>
              <a:rPr sz="3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수요와 수요 법칙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58400" y="256032"/>
            <a:ext cx="1737360" cy="457200"/>
          </a:xfrm>
          <a:prstGeom prst="roundRect">
            <a:avLst/>
          </a:prstGeom>
          <a:solidFill>
            <a:srgbClr val="F59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개념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• 수요: 어떤 상품을 일정한 가격에 사려고 하는 욕구</a:t>
            </a:r>
          </a:p>
          <a:p>
            <a:pPr>
              <a:spcAft>
                <a:spcPts val="800"/>
              </a:spcAft>
            </a:pPr>
            <a:r>
              <a:rPr sz="240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• 수요량: 일정한 가격에서 사려고 하는 상품의 양</a:t>
            </a:r>
          </a:p>
          <a:p>
            <a:pPr>
              <a:spcAft>
                <a:spcPts val="800"/>
              </a:spcAft>
            </a:pPr>
            <a:r>
              <a:rPr sz="240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• 수요 법칙: 가격이 오르면 수요량이 줄어들고, 가격이 내리면 수요량이 늘어난다.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6B7078"/>
                </a:solidFill>
                <a:latin typeface="맑은 고딕"/>
                <a:ea typeface="맑은 고딕"/>
                <a:cs typeface="맑은 고딕"/>
              </a:rPr>
              <a:t>가격과 수요량은 반대 방향으로 움직인다는 점에 대해 이해하는 것이 중요합니다.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D4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932688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800"/>
              </a:spcAft>
            </a:pPr>
            <a:r>
              <a:rPr sz="3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공급과 공급 법칙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58400" y="256032"/>
            <a:ext cx="1737360" cy="457200"/>
          </a:xfrm>
          <a:prstGeom prst="roundRect">
            <a:avLst/>
          </a:prstGeom>
          <a:solidFill>
            <a:srgbClr val="F59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개념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• 공급: 어떤 상품을 일정한 가격에 팔려고 하는 욕구</a:t>
            </a:r>
          </a:p>
          <a:p>
            <a:pPr>
              <a:spcAft>
                <a:spcPts val="800"/>
              </a:spcAft>
            </a:pPr>
            <a:r>
              <a:rPr sz="240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• 공급량: 일정한 가격에서 팔려고 하는 상품의 양</a:t>
            </a:r>
          </a:p>
          <a:p>
            <a:pPr>
              <a:spcAft>
                <a:spcPts val="800"/>
              </a:spcAft>
            </a:pPr>
            <a:r>
              <a:rPr sz="240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• 공급 법칙: 가격이 오르면 공급량이 늘어나고, 가격이 내리면 공급량이 줄어든다.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D4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932688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800"/>
              </a:spcAft>
            </a:pPr>
            <a:r>
              <a:rPr sz="3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떡볶이 가격에 따른 수요량과 공급량 (예시)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58400" y="256032"/>
            <a:ext cx="1737360" cy="457200"/>
          </a:xfrm>
          <a:prstGeom prst="roundRect">
            <a:avLst/>
          </a:prstGeom>
          <a:solidFill>
            <a:srgbClr val="F59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자료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22960" y="1371600"/>
          <a:ext cx="105156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645920"/>
                <a:gridCol w="1645920"/>
                <a:gridCol w="1645920"/>
                <a:gridCol w="1645920"/>
                <a:gridCol w="1645920"/>
              </a:tblGrid>
              <a:tr h="731520">
                <a:tc>
                  <a:txBody>
                    <a:bodyPr/>
                    <a:lstStyle/>
                    <a:p>
                      <a:pPr algn="ctr"/>
                      <a:r>
                        <a:rPr sz="22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가격 (원)</a:t>
                      </a:r>
                    </a:p>
                  </a:txBody>
                  <a:tcPr anchor="ctr">
                    <a:solidFill>
                      <a:srgbClr val="D6E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2,000</a:t>
                      </a:r>
                    </a:p>
                  </a:txBody>
                  <a:tcPr anchor="ctr">
                    <a:solidFill>
                      <a:srgbClr val="D6E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2,500</a:t>
                      </a:r>
                    </a:p>
                  </a:txBody>
                  <a:tcPr anchor="ctr">
                    <a:solidFill>
                      <a:srgbClr val="D6E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3,000</a:t>
                      </a:r>
                    </a:p>
                  </a:txBody>
                  <a:tcPr anchor="ctr">
                    <a:solidFill>
                      <a:srgbClr val="D6E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3,500</a:t>
                      </a:r>
                    </a:p>
                  </a:txBody>
                  <a:tcPr anchor="ctr">
                    <a:solidFill>
                      <a:srgbClr val="D6E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4,000</a:t>
                      </a:r>
                    </a:p>
                  </a:txBody>
                  <a:tcPr anchor="ctr">
                    <a:solidFill>
                      <a:srgbClr val="D6E2F0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/>
                      <a:r>
                        <a:rPr sz="22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수요량 (인분)</a:t>
                      </a:r>
                    </a:p>
                  </a:txBody>
                  <a:tcPr anchor="ctr">
                    <a:solidFill>
                      <a:srgbClr val="D6E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/>
                      <a:r>
                        <a:rPr sz="22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공급량 (인분)</a:t>
                      </a:r>
                    </a:p>
                  </a:txBody>
                  <a:tcPr anchor="ctr">
                    <a:solidFill>
                      <a:srgbClr val="D6E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22960" y="384048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6B7078"/>
                </a:solidFill>
                <a:latin typeface="맑은 고딕"/>
                <a:ea typeface="맑은 고딕"/>
                <a:cs typeface="맑은 고딕"/>
              </a:rPr>
              <a:t>어느 마을 떡볶이 시장의 하루 거래를 나타낸 가상 자료이다.</a:t>
            </a:r>
          </a:p>
          <a:p>
            <a:pPr>
              <a:spcAft>
                <a:spcPts val="800"/>
              </a:spcAft>
            </a:pPr>
            <a:r>
              <a:rPr sz="240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가격이 오를수록 수요량은 줄고 공급량은 늘어난다.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D4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932688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800"/>
              </a:spcAft>
            </a:pPr>
            <a:r>
              <a:rPr sz="3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수요 곡선과 공급 곡선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58400" y="256032"/>
            <a:ext cx="1737360" cy="457200"/>
          </a:xfrm>
          <a:prstGeom prst="roundRect">
            <a:avLst/>
          </a:prstGeom>
          <a:solidFill>
            <a:srgbClr val="F59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자료</a:t>
            </a:r>
          </a:p>
        </p:txBody>
      </p:sp>
      <p:pic>
        <p:nvPicPr>
          <p:cNvPr id="5" name="Picture 4" descr="떡볶이 수요 곡선과 공급 곡선, 두 곡선이 만나는 균형점 E(300인분, 3,000원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7527851" cy="53949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38160" y="1645920"/>
            <a:ext cx="3657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수요 곡선은 오른쪽 아래로, 공급 곡선은 오른쪽 위로 향한다.</a:t>
            </a:r>
          </a:p>
          <a:p>
            <a:pPr>
              <a:spcAft>
                <a:spcPts val="800"/>
              </a:spcAft>
            </a:pPr>
            <a:r>
              <a:rPr sz="220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두 곡선이 만나는 점 E에서 균형 가격과 균형 거래량이 정해진다.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D4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932688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800"/>
              </a:spcAft>
            </a:pPr>
            <a:r>
              <a:rPr sz="3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시장 가격의 결정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58400" y="256032"/>
            <a:ext cx="1737360" cy="457200"/>
          </a:xfrm>
          <a:prstGeom prst="roundRect">
            <a:avLst/>
          </a:prstGeom>
          <a:solidFill>
            <a:srgbClr val="F59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개념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• 가격 2,500원: 수요량 &gt; 공급량 → 초과 수요 → 가격 상승</a:t>
            </a:r>
          </a:p>
          <a:p>
            <a:pPr>
              <a:spcAft>
                <a:spcPts val="800"/>
              </a:spcAft>
            </a:pPr>
            <a:r>
              <a:rPr sz="240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• 가격 3,500원: 공급량 &gt; 수요량 → 초과 공급 → 가격 하락</a:t>
            </a:r>
          </a:p>
          <a:p>
            <a:pPr>
              <a:spcAft>
                <a:spcPts val="800"/>
              </a:spcAft>
            </a:pPr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• 결국 수요량 = 공급량이 되는 3,000원에서 가격이 정해짐 (균형 가격)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D4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932688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800"/>
              </a:spcAft>
            </a:pPr>
            <a:r>
              <a:rPr sz="3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수요와 공급을 변하게 하는 요인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58400" y="256032"/>
            <a:ext cx="1737360" cy="457200"/>
          </a:xfrm>
          <a:prstGeom prst="roundRect">
            <a:avLst/>
          </a:prstGeom>
          <a:solidFill>
            <a:srgbClr val="F59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개념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280160" y="1371600"/>
          <a:ext cx="9601200" cy="3429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00600"/>
                <a:gridCol w="4800600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2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수요를 변하게 하는 요인</a:t>
                      </a:r>
                    </a:p>
                  </a:txBody>
                  <a:tcPr anchor="ctr">
                    <a:solidFill>
                      <a:srgbClr val="D6E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공급을 변하게 하는 요인</a:t>
                      </a:r>
                    </a:p>
                  </a:txBody>
                  <a:tcPr anchor="ctr">
                    <a:solidFill>
                      <a:srgbClr val="D6E2F0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2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소비자의 소득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생산 요소의 가격 (재료비, 임금)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2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소비자의 선호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생산 기술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2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관련 상품(대체재·보완재)의 가격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공급자의 수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2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인구 (소비자의 수)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기후 (농산물)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D4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932688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800"/>
              </a:spcAft>
            </a:pPr>
            <a:r>
              <a:rPr sz="3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확인 문제 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58400" y="256032"/>
            <a:ext cx="1737360" cy="457200"/>
          </a:xfrm>
          <a:prstGeom prst="roundRect">
            <a:avLst/>
          </a:prstGeom>
          <a:solidFill>
            <a:srgbClr val="F59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확인 문제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60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6쪽의 표에서 떡볶이 1인분 가격이 2,500원일 때 나타나는 현상으로 옳은 것은?</a:t>
            </a:r>
          </a:p>
          <a:p>
            <a:pPr>
              <a:spcAft>
                <a:spcPts val="800"/>
              </a:spcAft>
            </a:pPr>
            <a:r>
              <a:rPr sz="240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① 200인분의 초과 공급이 나타난다.</a:t>
            </a:r>
          </a:p>
          <a:p>
            <a:pPr>
              <a:spcAft>
                <a:spcPts val="800"/>
              </a:spcAft>
            </a:pPr>
            <a:r>
              <a:rPr sz="240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② 200인분의 초과 수요가 나타난다.</a:t>
            </a:r>
          </a:p>
          <a:p>
            <a:pPr>
              <a:spcAft>
                <a:spcPts val="800"/>
              </a:spcAft>
            </a:pPr>
            <a:r>
              <a:rPr sz="240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③ 100인분의 초과 수요가 나타난다.</a:t>
            </a:r>
          </a:p>
          <a:p>
            <a:pPr>
              <a:spcAft>
                <a:spcPts val="800"/>
              </a:spcAft>
            </a:pPr>
            <a:r>
              <a:rPr sz="240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④ 수요량과 공급량이 같다.</a:t>
            </a:r>
          </a:p>
          <a:p>
            <a:pPr>
              <a:spcAft>
                <a:spcPts val="800"/>
              </a:spcAft>
            </a:pPr>
            <a:r>
              <a:rPr sz="240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⑤ 300인분의 초과 공급이 나타난다.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D4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932688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800"/>
              </a:spcAft>
            </a:pPr>
            <a:r>
              <a:rPr sz="3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확인 문제 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58400" y="256032"/>
            <a:ext cx="1737360" cy="457200"/>
          </a:xfrm>
          <a:prstGeom prst="roundRect">
            <a:avLst/>
          </a:prstGeom>
          <a:solidFill>
            <a:srgbClr val="F59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확인 문제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60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다음 사례가 떡볶이의 수요를 변하게 하는지, 공급을 변하게 하는지 분류해 보자.</a:t>
            </a:r>
          </a:p>
          <a:p>
            <a:pPr>
              <a:spcAft>
                <a:spcPts val="800"/>
              </a:spcAft>
            </a:pPr>
            <a:r>
              <a:rPr sz="240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ㄱ. 떡볶이 가게가 방송에 맛집으로 소개되었다.</a:t>
            </a:r>
          </a:p>
          <a:p>
            <a:pPr>
              <a:spcAft>
                <a:spcPts val="800"/>
              </a:spcAft>
            </a:pPr>
            <a:r>
              <a:rPr sz="240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ㄴ. 떡의 재료인 쌀 가격이 크게 올랐다.</a:t>
            </a:r>
          </a:p>
          <a:p>
            <a:pPr>
              <a:spcAft>
                <a:spcPts val="800"/>
              </a:spcAft>
            </a:pPr>
            <a:r>
              <a:rPr sz="240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ㄷ. 떡을 빠르게 뽑는 새 기계가 나왔다.</a:t>
            </a:r>
          </a:p>
          <a:p>
            <a:pPr>
              <a:spcAft>
                <a:spcPts val="800"/>
              </a:spcAft>
            </a:pPr>
            <a:r>
              <a:rPr sz="240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ㄹ. 학생들의 용돈이 늘었다.</a:t>
            </a:r>
          </a:p>
          <a:p>
            <a:pPr>
              <a:spcAft>
                <a:spcPts val="800"/>
              </a:spcAft>
            </a:pPr>
            <a:r>
              <a:rPr sz="240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ㅁ. 동네에 떡볶이 가게가 세 곳 더 생겼다.</a:t>
            </a:r>
          </a:p>
          <a:p>
            <a:pPr>
              <a:spcAft>
                <a:spcPts val="800"/>
              </a:spcAft>
            </a:pPr>
            <a:r>
              <a:rPr sz="240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ㅂ. 떡볶이와 함께 먹는 어묵의 가격이 크게 올랐다.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D4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932688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800"/>
              </a:spcAft>
            </a:pPr>
            <a:r>
              <a:rPr sz="3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정리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58400" y="256032"/>
            <a:ext cx="1737360" cy="457200"/>
          </a:xfrm>
          <a:prstGeom prst="roundRect">
            <a:avLst/>
          </a:prstGeom>
          <a:solidFill>
            <a:srgbClr val="F59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정리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60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• 수요 법칙: 가격과 수요량은 반대로 움직인다.</a:t>
            </a:r>
          </a:p>
          <a:p>
            <a:pPr>
              <a:spcAft>
                <a:spcPts val="800"/>
              </a:spcAft>
            </a:pPr>
            <a:r>
              <a:rPr sz="260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• 공급 법칙: 가격과 공급량은 같은 방향으로 움직인다.</a:t>
            </a:r>
          </a:p>
          <a:p>
            <a:pPr>
              <a:spcAft>
                <a:spcPts val="800"/>
              </a:spcAft>
            </a:pPr>
            <a:r>
              <a:rPr sz="260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• 수요량과 공급량이 같아지는 곳에서 균형 가격이 정해진다.</a:t>
            </a:r>
          </a:p>
          <a:p>
            <a:pPr>
              <a:spcAft>
                <a:spcPts val="800"/>
              </a:spcAft>
            </a:pPr>
            <a:r>
              <a:rPr sz="260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• 소득·선호 등은 수요를, 생산 비용·기술 등은 공급을 변하게 한다.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